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5"/>
  </p:notesMasterIdLst>
  <p:sldIdLst>
    <p:sldId id="256" r:id="rId2"/>
    <p:sldId id="257" r:id="rId3"/>
    <p:sldId id="258" r:id="rId4"/>
  </p:sldIdLst>
  <p:sldSz cx="59436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9"/>
    <p:restoredTop sz="96000"/>
  </p:normalViewPr>
  <p:slideViewPr>
    <p:cSldViewPr snapToGrid="0">
      <p:cViewPr>
        <p:scale>
          <a:sx n="231" d="100"/>
          <a:sy n="231" d="100"/>
        </p:scale>
        <p:origin x="504" y="-2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F2B54D-5177-0F43-A881-7627635DD56E}" type="datetimeFigureOut">
              <a:rPr lang="en-US" smtClean="0"/>
              <a:t>4/27/26</a:t>
            </a:fld>
            <a:endParaRPr lang="en-US"/>
          </a:p>
        </p:txBody>
      </p:sp>
      <p:sp>
        <p:nvSpPr>
          <p:cNvPr id="4" name="Slide Image Placeholder 3"/>
          <p:cNvSpPr>
            <a:spLocks noGrp="1" noRot="1" noChangeAspect="1"/>
          </p:cNvSpPr>
          <p:nvPr>
            <p:ph type="sldImg" idx="2"/>
          </p:nvPr>
        </p:nvSpPr>
        <p:spPr>
          <a:xfrm>
            <a:off x="2249488" y="1143000"/>
            <a:ext cx="23590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FE671-F752-BB4A-AC58-5573ACA2A586}" type="slidenum">
              <a:rPr lang="en-US" smtClean="0"/>
              <a:t>‹#›</a:t>
            </a:fld>
            <a:endParaRPr lang="en-US"/>
          </a:p>
        </p:txBody>
      </p:sp>
    </p:spTree>
    <p:extLst>
      <p:ext uri="{BB962C8B-B14F-4D97-AF65-F5344CB8AC3E}">
        <p14:creationId xmlns:p14="http://schemas.microsoft.com/office/powerpoint/2010/main" val="133089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49488" y="1143000"/>
            <a:ext cx="2359025" cy="3086100"/>
          </a:xfrm>
        </p:spPr>
      </p:sp>
      <p:sp>
        <p:nvSpPr>
          <p:cNvPr id="3" name="Notes Placeholder 2"/>
          <p:cNvSpPr>
            <a:spLocks noGrp="1"/>
          </p:cNvSpPr>
          <p:nvPr>
            <p:ph type="body" idx="1"/>
          </p:nvPr>
        </p:nvSpPr>
        <p:spPr/>
        <p:txBody>
          <a:bodyPr/>
          <a:lstStyle/>
          <a:p>
            <a:r>
              <a:rPr lang="en-US" dirty="0"/>
              <a:t>Solving the inverse problem: predicting undamaged samples from X-ray diffraction(XRD) on damaged samples in the </a:t>
            </a:r>
            <a:r>
              <a:rPr lang="en-US" dirty="0" err="1"/>
              <a:t>CascadesDB</a:t>
            </a:r>
            <a:r>
              <a:rPr lang="en-US" dirty="0"/>
              <a:t> dataset. a. </a:t>
            </a:r>
            <a:r>
              <a:rPr lang="en-US" dirty="0" err="1"/>
              <a:t>archetecture</a:t>
            </a:r>
            <a:r>
              <a:rPr lang="en-US" dirty="0"/>
              <a:t> of neural network: a multilayer perceptron (MLP) fed to a 1 dimensional convolutional neural network (1D CNN). b. mean square error(MSE) loss for training and validation sets. c. trained model predicts an XRD from input categorical data (material composition, lattice type) and continuous data (lattice parameter, temperature, primary knock-on atom (PKA) energy, box (sample) volume). d. Performance of predicting inputs, sample properties, from XRD on damaged samples. Notice that low MSE is sufficient to guarantee prediction of PKA energy and box volume, but is insufficient for lattice parameter and temperature.</a:t>
            </a:r>
          </a:p>
        </p:txBody>
      </p:sp>
      <p:sp>
        <p:nvSpPr>
          <p:cNvPr id="4" name="Slide Number Placeholder 3"/>
          <p:cNvSpPr>
            <a:spLocks noGrp="1"/>
          </p:cNvSpPr>
          <p:nvPr>
            <p:ph type="sldNum" sz="quarter" idx="5"/>
          </p:nvPr>
        </p:nvSpPr>
        <p:spPr/>
        <p:txBody>
          <a:bodyPr/>
          <a:lstStyle/>
          <a:p>
            <a:fld id="{4E0FE671-F752-BB4A-AC58-5573ACA2A586}" type="slidenum">
              <a:rPr lang="en-US" smtClean="0"/>
              <a:t>1</a:t>
            </a:fld>
            <a:endParaRPr lang="en-US"/>
          </a:p>
        </p:txBody>
      </p:sp>
    </p:spTree>
    <p:extLst>
      <p:ext uri="{BB962C8B-B14F-4D97-AF65-F5344CB8AC3E}">
        <p14:creationId xmlns:p14="http://schemas.microsoft.com/office/powerpoint/2010/main" val="378892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0FE671-F752-BB4A-AC58-5573ACA2A586}" type="slidenum">
              <a:rPr lang="en-US" smtClean="0"/>
              <a:t>3</a:t>
            </a:fld>
            <a:endParaRPr lang="en-US"/>
          </a:p>
        </p:txBody>
      </p:sp>
    </p:spTree>
    <p:extLst>
      <p:ext uri="{BB962C8B-B14F-4D97-AF65-F5344CB8AC3E}">
        <p14:creationId xmlns:p14="http://schemas.microsoft.com/office/powerpoint/2010/main" val="2243503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5770" y="1272011"/>
            <a:ext cx="5052060" cy="2705947"/>
          </a:xfrm>
        </p:spPr>
        <p:txBody>
          <a:bodyPr anchor="b"/>
          <a:lstStyle>
            <a:lvl1pPr algn="ctr">
              <a:defRPr sz="3900"/>
            </a:lvl1pPr>
          </a:lstStyle>
          <a:p>
            <a:r>
              <a:rPr lang="en-US"/>
              <a:t>Click to edit Master title style</a:t>
            </a:r>
            <a:endParaRPr lang="en-US" dirty="0"/>
          </a:p>
        </p:txBody>
      </p:sp>
      <p:sp>
        <p:nvSpPr>
          <p:cNvPr id="3" name="Subtitle 2"/>
          <p:cNvSpPr>
            <a:spLocks noGrp="1"/>
          </p:cNvSpPr>
          <p:nvPr>
            <p:ph type="subTitle" idx="1"/>
          </p:nvPr>
        </p:nvSpPr>
        <p:spPr>
          <a:xfrm>
            <a:off x="742950" y="4082310"/>
            <a:ext cx="4457700" cy="1876530"/>
          </a:xfrm>
        </p:spPr>
        <p:txBody>
          <a:bodyPr/>
          <a:lstStyle>
            <a:lvl1pPr marL="0" indent="0" algn="ctr">
              <a:buNone/>
              <a:defRPr sz="1560"/>
            </a:lvl1pPr>
            <a:lvl2pPr marL="297180" indent="0" algn="ctr">
              <a:buNone/>
              <a:defRPr sz="1300"/>
            </a:lvl2pPr>
            <a:lvl3pPr marL="594360" indent="0" algn="ctr">
              <a:buNone/>
              <a:defRPr sz="1170"/>
            </a:lvl3pPr>
            <a:lvl4pPr marL="891540" indent="0" algn="ctr">
              <a:buNone/>
              <a:defRPr sz="1040"/>
            </a:lvl4pPr>
            <a:lvl5pPr marL="1188720" indent="0" algn="ctr">
              <a:buNone/>
              <a:defRPr sz="1040"/>
            </a:lvl5pPr>
            <a:lvl6pPr marL="1485900" indent="0" algn="ctr">
              <a:buNone/>
              <a:defRPr sz="1040"/>
            </a:lvl6pPr>
            <a:lvl7pPr marL="1783080" indent="0" algn="ctr">
              <a:buNone/>
              <a:defRPr sz="1040"/>
            </a:lvl7pPr>
            <a:lvl8pPr marL="2080260" indent="0" algn="ctr">
              <a:buNone/>
              <a:defRPr sz="1040"/>
            </a:lvl8pPr>
            <a:lvl9pPr marL="2377440" indent="0" algn="ctr">
              <a:buNone/>
              <a:defRPr sz="1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060ED0-D23E-A044-9972-B94295700C82}"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2146192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060ED0-D23E-A044-9972-B94295700C82}"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227066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5527" y="1937705"/>
            <a:ext cx="5126355" cy="3233102"/>
          </a:xfrm>
        </p:spPr>
        <p:txBody>
          <a:bodyPr anchor="b"/>
          <a:lstStyle>
            <a:lvl1pPr>
              <a:defRPr sz="3900"/>
            </a:lvl1pPr>
          </a:lstStyle>
          <a:p>
            <a:r>
              <a:rPr lang="en-US"/>
              <a:t>Click to edit Master title style</a:t>
            </a:r>
            <a:endParaRPr lang="en-US" dirty="0"/>
          </a:p>
        </p:txBody>
      </p:sp>
      <p:sp>
        <p:nvSpPr>
          <p:cNvPr id="3" name="Text Placeholder 2"/>
          <p:cNvSpPr>
            <a:spLocks noGrp="1"/>
          </p:cNvSpPr>
          <p:nvPr>
            <p:ph type="body" idx="1"/>
          </p:nvPr>
        </p:nvSpPr>
        <p:spPr>
          <a:xfrm>
            <a:off x="405527" y="5201393"/>
            <a:ext cx="5126355" cy="1700212"/>
          </a:xfrm>
        </p:spPr>
        <p:txBody>
          <a:bodyPr/>
          <a:lstStyle>
            <a:lvl1pPr marL="0" indent="0">
              <a:buNone/>
              <a:defRPr sz="1560">
                <a:solidFill>
                  <a:schemeClr val="tx1">
                    <a:tint val="82000"/>
                  </a:schemeClr>
                </a:solidFill>
              </a:defRPr>
            </a:lvl1pPr>
            <a:lvl2pPr marL="297180" indent="0">
              <a:buNone/>
              <a:defRPr sz="1300">
                <a:solidFill>
                  <a:schemeClr val="tx1">
                    <a:tint val="82000"/>
                  </a:schemeClr>
                </a:solidFill>
              </a:defRPr>
            </a:lvl2pPr>
            <a:lvl3pPr marL="594360" indent="0">
              <a:buNone/>
              <a:defRPr sz="1170">
                <a:solidFill>
                  <a:schemeClr val="tx1">
                    <a:tint val="82000"/>
                  </a:schemeClr>
                </a:solidFill>
              </a:defRPr>
            </a:lvl3pPr>
            <a:lvl4pPr marL="891540" indent="0">
              <a:buNone/>
              <a:defRPr sz="1040">
                <a:solidFill>
                  <a:schemeClr val="tx1">
                    <a:tint val="82000"/>
                  </a:schemeClr>
                </a:solidFill>
              </a:defRPr>
            </a:lvl4pPr>
            <a:lvl5pPr marL="1188720" indent="0">
              <a:buNone/>
              <a:defRPr sz="1040">
                <a:solidFill>
                  <a:schemeClr val="tx1">
                    <a:tint val="82000"/>
                  </a:schemeClr>
                </a:solidFill>
              </a:defRPr>
            </a:lvl5pPr>
            <a:lvl6pPr marL="1485900" indent="0">
              <a:buNone/>
              <a:defRPr sz="1040">
                <a:solidFill>
                  <a:schemeClr val="tx1">
                    <a:tint val="82000"/>
                  </a:schemeClr>
                </a:solidFill>
              </a:defRPr>
            </a:lvl6pPr>
            <a:lvl7pPr marL="1783080" indent="0">
              <a:buNone/>
              <a:defRPr sz="1040">
                <a:solidFill>
                  <a:schemeClr val="tx1">
                    <a:tint val="82000"/>
                  </a:schemeClr>
                </a:solidFill>
              </a:defRPr>
            </a:lvl7pPr>
            <a:lvl8pPr marL="2080260" indent="0">
              <a:buNone/>
              <a:defRPr sz="1040">
                <a:solidFill>
                  <a:schemeClr val="tx1">
                    <a:tint val="82000"/>
                  </a:schemeClr>
                </a:solidFill>
              </a:defRPr>
            </a:lvl8pPr>
            <a:lvl9pPr marL="2377440" indent="0">
              <a:buNone/>
              <a:defRPr sz="10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060ED0-D23E-A044-9972-B94295700C82}"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1225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08623" y="2069042"/>
            <a:ext cx="252603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008948" y="2069042"/>
            <a:ext cx="252603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060ED0-D23E-A044-9972-B94295700C82}"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1695172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9397" y="413810"/>
            <a:ext cx="5126355"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409397" y="1905318"/>
            <a:ext cx="2514421" cy="933767"/>
          </a:xfrm>
        </p:spPr>
        <p:txBody>
          <a:bodyPr anchor="b"/>
          <a:lstStyle>
            <a:lvl1pPr marL="0" indent="0">
              <a:buNone/>
              <a:defRPr sz="1560" b="1"/>
            </a:lvl1pPr>
            <a:lvl2pPr marL="297180" indent="0">
              <a:buNone/>
              <a:defRPr sz="1300" b="1"/>
            </a:lvl2pPr>
            <a:lvl3pPr marL="594360" indent="0">
              <a:buNone/>
              <a:defRPr sz="1170" b="1"/>
            </a:lvl3pPr>
            <a:lvl4pPr marL="891540" indent="0">
              <a:buNone/>
              <a:defRPr sz="1040" b="1"/>
            </a:lvl4pPr>
            <a:lvl5pPr marL="1188720" indent="0">
              <a:buNone/>
              <a:defRPr sz="1040" b="1"/>
            </a:lvl5pPr>
            <a:lvl6pPr marL="1485900" indent="0">
              <a:buNone/>
              <a:defRPr sz="1040" b="1"/>
            </a:lvl6pPr>
            <a:lvl7pPr marL="1783080" indent="0">
              <a:buNone/>
              <a:defRPr sz="1040" b="1"/>
            </a:lvl7pPr>
            <a:lvl8pPr marL="2080260" indent="0">
              <a:buNone/>
              <a:defRPr sz="1040" b="1"/>
            </a:lvl8pPr>
            <a:lvl9pPr marL="2377440" indent="0">
              <a:buNone/>
              <a:defRPr sz="1040" b="1"/>
            </a:lvl9pPr>
          </a:lstStyle>
          <a:p>
            <a:pPr lvl="0"/>
            <a:r>
              <a:rPr lang="en-US"/>
              <a:t>Click to edit Master text styles</a:t>
            </a:r>
          </a:p>
        </p:txBody>
      </p:sp>
      <p:sp>
        <p:nvSpPr>
          <p:cNvPr id="4" name="Content Placeholder 3"/>
          <p:cNvSpPr>
            <a:spLocks noGrp="1"/>
          </p:cNvSpPr>
          <p:nvPr>
            <p:ph sz="half" idx="2"/>
          </p:nvPr>
        </p:nvSpPr>
        <p:spPr>
          <a:xfrm>
            <a:off x="409397" y="2839085"/>
            <a:ext cx="2514421"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008948" y="1905318"/>
            <a:ext cx="2526804" cy="933767"/>
          </a:xfrm>
        </p:spPr>
        <p:txBody>
          <a:bodyPr anchor="b"/>
          <a:lstStyle>
            <a:lvl1pPr marL="0" indent="0">
              <a:buNone/>
              <a:defRPr sz="1560" b="1"/>
            </a:lvl1pPr>
            <a:lvl2pPr marL="297180" indent="0">
              <a:buNone/>
              <a:defRPr sz="1300" b="1"/>
            </a:lvl2pPr>
            <a:lvl3pPr marL="594360" indent="0">
              <a:buNone/>
              <a:defRPr sz="1170" b="1"/>
            </a:lvl3pPr>
            <a:lvl4pPr marL="891540" indent="0">
              <a:buNone/>
              <a:defRPr sz="1040" b="1"/>
            </a:lvl4pPr>
            <a:lvl5pPr marL="1188720" indent="0">
              <a:buNone/>
              <a:defRPr sz="1040" b="1"/>
            </a:lvl5pPr>
            <a:lvl6pPr marL="1485900" indent="0">
              <a:buNone/>
              <a:defRPr sz="1040" b="1"/>
            </a:lvl6pPr>
            <a:lvl7pPr marL="1783080" indent="0">
              <a:buNone/>
              <a:defRPr sz="1040" b="1"/>
            </a:lvl7pPr>
            <a:lvl8pPr marL="2080260" indent="0">
              <a:buNone/>
              <a:defRPr sz="1040" b="1"/>
            </a:lvl8pPr>
            <a:lvl9pPr marL="2377440" indent="0">
              <a:buNone/>
              <a:defRPr sz="1040" b="1"/>
            </a:lvl9pPr>
          </a:lstStyle>
          <a:p>
            <a:pPr lvl="0"/>
            <a:r>
              <a:rPr lang="en-US"/>
              <a:t>Click to edit Master text styles</a:t>
            </a:r>
          </a:p>
        </p:txBody>
      </p:sp>
      <p:sp>
        <p:nvSpPr>
          <p:cNvPr id="6" name="Content Placeholder 5"/>
          <p:cNvSpPr>
            <a:spLocks noGrp="1"/>
          </p:cNvSpPr>
          <p:nvPr>
            <p:ph sz="quarter" idx="4"/>
          </p:nvPr>
        </p:nvSpPr>
        <p:spPr>
          <a:xfrm>
            <a:off x="3008948" y="2839085"/>
            <a:ext cx="252680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060ED0-D23E-A044-9972-B94295700C82}"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4124037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060ED0-D23E-A044-9972-B94295700C82}"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417010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060ED0-D23E-A044-9972-B94295700C82}"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649248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9397" y="518160"/>
            <a:ext cx="1916966" cy="1813560"/>
          </a:xfrm>
        </p:spPr>
        <p:txBody>
          <a:bodyPr anchor="b"/>
          <a:lstStyle>
            <a:lvl1pPr>
              <a:defRPr sz="2080"/>
            </a:lvl1pPr>
          </a:lstStyle>
          <a:p>
            <a:r>
              <a:rPr lang="en-US"/>
              <a:t>Click to edit Master title style</a:t>
            </a:r>
            <a:endParaRPr lang="en-US" dirty="0"/>
          </a:p>
        </p:txBody>
      </p:sp>
      <p:sp>
        <p:nvSpPr>
          <p:cNvPr id="3" name="Content Placeholder 2"/>
          <p:cNvSpPr>
            <a:spLocks noGrp="1"/>
          </p:cNvSpPr>
          <p:nvPr>
            <p:ph idx="1"/>
          </p:nvPr>
        </p:nvSpPr>
        <p:spPr>
          <a:xfrm>
            <a:off x="2526804" y="1119083"/>
            <a:ext cx="3008948" cy="5523442"/>
          </a:xfrm>
        </p:spPr>
        <p:txBody>
          <a:bodyPr/>
          <a:lstStyle>
            <a:lvl1pPr>
              <a:defRPr sz="2080"/>
            </a:lvl1pPr>
            <a:lvl2pPr>
              <a:defRPr sz="1820"/>
            </a:lvl2pPr>
            <a:lvl3pPr>
              <a:defRPr sz="156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9397" y="2331720"/>
            <a:ext cx="1916966" cy="4319800"/>
          </a:xfrm>
        </p:spPr>
        <p:txBody>
          <a:bodyPr/>
          <a:lstStyle>
            <a:lvl1pPr marL="0" indent="0">
              <a:buNone/>
              <a:defRPr sz="1040"/>
            </a:lvl1pPr>
            <a:lvl2pPr marL="297180" indent="0">
              <a:buNone/>
              <a:defRPr sz="910"/>
            </a:lvl2pPr>
            <a:lvl3pPr marL="594360" indent="0">
              <a:buNone/>
              <a:defRPr sz="780"/>
            </a:lvl3pPr>
            <a:lvl4pPr marL="891540" indent="0">
              <a:buNone/>
              <a:defRPr sz="650"/>
            </a:lvl4pPr>
            <a:lvl5pPr marL="1188720" indent="0">
              <a:buNone/>
              <a:defRPr sz="650"/>
            </a:lvl5pPr>
            <a:lvl6pPr marL="1485900" indent="0">
              <a:buNone/>
              <a:defRPr sz="650"/>
            </a:lvl6pPr>
            <a:lvl7pPr marL="1783080" indent="0">
              <a:buNone/>
              <a:defRPr sz="650"/>
            </a:lvl7pPr>
            <a:lvl8pPr marL="2080260" indent="0">
              <a:buNone/>
              <a:defRPr sz="650"/>
            </a:lvl8pPr>
            <a:lvl9pPr marL="2377440" indent="0">
              <a:buNone/>
              <a:defRPr sz="650"/>
            </a:lvl9pPr>
          </a:lstStyle>
          <a:p>
            <a:pPr lvl="0"/>
            <a:r>
              <a:rPr lang="en-US"/>
              <a:t>Click to edit Master text styles</a:t>
            </a:r>
          </a:p>
        </p:txBody>
      </p:sp>
      <p:sp>
        <p:nvSpPr>
          <p:cNvPr id="5" name="Date Placeholder 4"/>
          <p:cNvSpPr>
            <a:spLocks noGrp="1"/>
          </p:cNvSpPr>
          <p:nvPr>
            <p:ph type="dt" sz="half" idx="10"/>
          </p:nvPr>
        </p:nvSpPr>
        <p:spPr/>
        <p:txBody>
          <a:bodyPr/>
          <a:lstStyle/>
          <a:p>
            <a:fld id="{94060ED0-D23E-A044-9972-B94295700C82}"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294714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9397" y="518160"/>
            <a:ext cx="1916966" cy="1813560"/>
          </a:xfrm>
        </p:spPr>
        <p:txBody>
          <a:bodyPr anchor="b"/>
          <a:lstStyle>
            <a:lvl1pPr>
              <a:defRPr sz="2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26804" y="1119083"/>
            <a:ext cx="3008948" cy="5523442"/>
          </a:xfrm>
        </p:spPr>
        <p:txBody>
          <a:bodyPr anchor="t"/>
          <a:lstStyle>
            <a:lvl1pPr marL="0" indent="0">
              <a:buNone/>
              <a:defRPr sz="2080"/>
            </a:lvl1pPr>
            <a:lvl2pPr marL="297180" indent="0">
              <a:buNone/>
              <a:defRPr sz="1820"/>
            </a:lvl2pPr>
            <a:lvl3pPr marL="594360" indent="0">
              <a:buNone/>
              <a:defRPr sz="1560"/>
            </a:lvl3pPr>
            <a:lvl4pPr marL="891540" indent="0">
              <a:buNone/>
              <a:defRPr sz="1300"/>
            </a:lvl4pPr>
            <a:lvl5pPr marL="1188720" indent="0">
              <a:buNone/>
              <a:defRPr sz="1300"/>
            </a:lvl5pPr>
            <a:lvl6pPr marL="1485900" indent="0">
              <a:buNone/>
              <a:defRPr sz="1300"/>
            </a:lvl6pPr>
            <a:lvl7pPr marL="1783080" indent="0">
              <a:buNone/>
              <a:defRPr sz="1300"/>
            </a:lvl7pPr>
            <a:lvl8pPr marL="2080260" indent="0">
              <a:buNone/>
              <a:defRPr sz="1300"/>
            </a:lvl8pPr>
            <a:lvl9pPr marL="2377440" indent="0">
              <a:buNone/>
              <a:defRPr sz="1300"/>
            </a:lvl9pPr>
          </a:lstStyle>
          <a:p>
            <a:r>
              <a:rPr lang="en-US"/>
              <a:t>Click icon to add picture</a:t>
            </a:r>
            <a:endParaRPr lang="en-US" dirty="0"/>
          </a:p>
        </p:txBody>
      </p:sp>
      <p:sp>
        <p:nvSpPr>
          <p:cNvPr id="4" name="Text Placeholder 3"/>
          <p:cNvSpPr>
            <a:spLocks noGrp="1"/>
          </p:cNvSpPr>
          <p:nvPr>
            <p:ph type="body" sz="half" idx="2"/>
          </p:nvPr>
        </p:nvSpPr>
        <p:spPr>
          <a:xfrm>
            <a:off x="409397" y="2331720"/>
            <a:ext cx="1916966" cy="4319800"/>
          </a:xfrm>
        </p:spPr>
        <p:txBody>
          <a:bodyPr/>
          <a:lstStyle>
            <a:lvl1pPr marL="0" indent="0">
              <a:buNone/>
              <a:defRPr sz="1040"/>
            </a:lvl1pPr>
            <a:lvl2pPr marL="297180" indent="0">
              <a:buNone/>
              <a:defRPr sz="910"/>
            </a:lvl2pPr>
            <a:lvl3pPr marL="594360" indent="0">
              <a:buNone/>
              <a:defRPr sz="780"/>
            </a:lvl3pPr>
            <a:lvl4pPr marL="891540" indent="0">
              <a:buNone/>
              <a:defRPr sz="650"/>
            </a:lvl4pPr>
            <a:lvl5pPr marL="1188720" indent="0">
              <a:buNone/>
              <a:defRPr sz="650"/>
            </a:lvl5pPr>
            <a:lvl6pPr marL="1485900" indent="0">
              <a:buNone/>
              <a:defRPr sz="650"/>
            </a:lvl6pPr>
            <a:lvl7pPr marL="1783080" indent="0">
              <a:buNone/>
              <a:defRPr sz="650"/>
            </a:lvl7pPr>
            <a:lvl8pPr marL="2080260" indent="0">
              <a:buNone/>
              <a:defRPr sz="650"/>
            </a:lvl8pPr>
            <a:lvl9pPr marL="2377440" indent="0">
              <a:buNone/>
              <a:defRPr sz="650"/>
            </a:lvl9pPr>
          </a:lstStyle>
          <a:p>
            <a:pPr lvl="0"/>
            <a:r>
              <a:rPr lang="en-US"/>
              <a:t>Click to edit Master text styles</a:t>
            </a:r>
          </a:p>
        </p:txBody>
      </p:sp>
      <p:sp>
        <p:nvSpPr>
          <p:cNvPr id="5" name="Date Placeholder 4"/>
          <p:cNvSpPr>
            <a:spLocks noGrp="1"/>
          </p:cNvSpPr>
          <p:nvPr>
            <p:ph type="dt" sz="half" idx="10"/>
          </p:nvPr>
        </p:nvSpPr>
        <p:spPr/>
        <p:txBody>
          <a:bodyPr/>
          <a:lstStyle/>
          <a:p>
            <a:fld id="{94060ED0-D23E-A044-9972-B94295700C82}"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144985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060ED0-D23E-A044-9972-B94295700C82}"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2039955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253389" y="413808"/>
            <a:ext cx="1281589"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08623" y="413808"/>
            <a:ext cx="3770471"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060ED0-D23E-A044-9972-B94295700C82}"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38A3B3-66D9-5648-90FC-E5639BE8BC56}" type="slidenum">
              <a:rPr lang="en-US" smtClean="0"/>
              <a:t>‹#›</a:t>
            </a:fld>
            <a:endParaRPr lang="en-US"/>
          </a:p>
        </p:txBody>
      </p:sp>
    </p:spTree>
    <p:extLst>
      <p:ext uri="{BB962C8B-B14F-4D97-AF65-F5344CB8AC3E}">
        <p14:creationId xmlns:p14="http://schemas.microsoft.com/office/powerpoint/2010/main" val="3104540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8623" y="413810"/>
            <a:ext cx="5126355"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08623" y="2069042"/>
            <a:ext cx="5126355"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08622" y="7203865"/>
            <a:ext cx="1337310" cy="413808"/>
          </a:xfrm>
          <a:prstGeom prst="rect">
            <a:avLst/>
          </a:prstGeom>
        </p:spPr>
        <p:txBody>
          <a:bodyPr vert="horz" lIns="91440" tIns="45720" rIns="91440" bIns="45720" rtlCol="0" anchor="ctr"/>
          <a:lstStyle>
            <a:lvl1pPr algn="l">
              <a:defRPr sz="780">
                <a:solidFill>
                  <a:schemeClr val="tx1">
                    <a:tint val="82000"/>
                  </a:schemeClr>
                </a:solidFill>
              </a:defRPr>
            </a:lvl1pPr>
          </a:lstStyle>
          <a:p>
            <a:fld id="{94060ED0-D23E-A044-9972-B94295700C82}" type="datetimeFigureOut">
              <a:rPr lang="en-US" smtClean="0"/>
              <a:t>4/27/26</a:t>
            </a:fld>
            <a:endParaRPr lang="en-US"/>
          </a:p>
        </p:txBody>
      </p:sp>
      <p:sp>
        <p:nvSpPr>
          <p:cNvPr id="5" name="Footer Placeholder 4"/>
          <p:cNvSpPr>
            <a:spLocks noGrp="1"/>
          </p:cNvSpPr>
          <p:nvPr>
            <p:ph type="ftr" sz="quarter" idx="3"/>
          </p:nvPr>
        </p:nvSpPr>
        <p:spPr>
          <a:xfrm>
            <a:off x="1968818" y="7203865"/>
            <a:ext cx="2005965" cy="413808"/>
          </a:xfrm>
          <a:prstGeom prst="rect">
            <a:avLst/>
          </a:prstGeom>
        </p:spPr>
        <p:txBody>
          <a:bodyPr vert="horz" lIns="91440" tIns="45720" rIns="91440" bIns="45720" rtlCol="0" anchor="ctr"/>
          <a:lstStyle>
            <a:lvl1pPr algn="ctr">
              <a:defRPr sz="7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197668" y="7203865"/>
            <a:ext cx="1337310" cy="413808"/>
          </a:xfrm>
          <a:prstGeom prst="rect">
            <a:avLst/>
          </a:prstGeom>
        </p:spPr>
        <p:txBody>
          <a:bodyPr vert="horz" lIns="91440" tIns="45720" rIns="91440" bIns="45720" rtlCol="0" anchor="ctr"/>
          <a:lstStyle>
            <a:lvl1pPr algn="r">
              <a:defRPr sz="780">
                <a:solidFill>
                  <a:schemeClr val="tx1">
                    <a:tint val="82000"/>
                  </a:schemeClr>
                </a:solidFill>
              </a:defRPr>
            </a:lvl1pPr>
          </a:lstStyle>
          <a:p>
            <a:fld id="{FD38A3B3-66D9-5648-90FC-E5639BE8BC56}" type="slidenum">
              <a:rPr lang="en-US" smtClean="0"/>
              <a:t>‹#›</a:t>
            </a:fld>
            <a:endParaRPr lang="en-US"/>
          </a:p>
        </p:txBody>
      </p:sp>
    </p:spTree>
    <p:extLst>
      <p:ext uri="{BB962C8B-B14F-4D97-AF65-F5344CB8AC3E}">
        <p14:creationId xmlns:p14="http://schemas.microsoft.com/office/powerpoint/2010/main" val="108656421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594360" rtl="0" eaLnBrk="1" latinLnBrk="0" hangingPunct="1">
        <a:lnSpc>
          <a:spcPct val="90000"/>
        </a:lnSpc>
        <a:spcBef>
          <a:spcPct val="0"/>
        </a:spcBef>
        <a:buNone/>
        <a:defRPr sz="2860" kern="1200">
          <a:solidFill>
            <a:schemeClr val="tx1"/>
          </a:solidFill>
          <a:latin typeface="+mj-lt"/>
          <a:ea typeface="+mj-ea"/>
          <a:cs typeface="+mj-cs"/>
        </a:defRPr>
      </a:lvl1pPr>
    </p:titleStyle>
    <p:bodyStyle>
      <a:lvl1pPr marL="148590" indent="-148590" algn="l" defTabSz="594360" rtl="0" eaLnBrk="1" latinLnBrk="0" hangingPunct="1">
        <a:lnSpc>
          <a:spcPct val="90000"/>
        </a:lnSpc>
        <a:spcBef>
          <a:spcPts val="650"/>
        </a:spcBef>
        <a:buFont typeface="Arial" panose="020B0604020202020204" pitchFamily="34" charset="0"/>
        <a:buChar char="•"/>
        <a:defRPr sz="1820" kern="1200">
          <a:solidFill>
            <a:schemeClr val="tx1"/>
          </a:solidFill>
          <a:latin typeface="+mn-lt"/>
          <a:ea typeface="+mn-ea"/>
          <a:cs typeface="+mn-cs"/>
        </a:defRPr>
      </a:lvl1pPr>
      <a:lvl2pPr marL="445770" indent="-148590" algn="l" defTabSz="594360" rtl="0" eaLnBrk="1" latinLnBrk="0" hangingPunct="1">
        <a:lnSpc>
          <a:spcPct val="90000"/>
        </a:lnSpc>
        <a:spcBef>
          <a:spcPts val="325"/>
        </a:spcBef>
        <a:buFont typeface="Arial" panose="020B0604020202020204" pitchFamily="34" charset="0"/>
        <a:buChar char="•"/>
        <a:defRPr sz="1560" kern="1200">
          <a:solidFill>
            <a:schemeClr val="tx1"/>
          </a:solidFill>
          <a:latin typeface="+mn-lt"/>
          <a:ea typeface="+mn-ea"/>
          <a:cs typeface="+mn-cs"/>
        </a:defRPr>
      </a:lvl2pPr>
      <a:lvl3pPr marL="742950" indent="-148590" algn="l" defTabSz="594360" rtl="0" eaLnBrk="1" latinLnBrk="0" hangingPunct="1">
        <a:lnSpc>
          <a:spcPct val="90000"/>
        </a:lnSpc>
        <a:spcBef>
          <a:spcPts val="325"/>
        </a:spcBef>
        <a:buFont typeface="Arial" panose="020B0604020202020204" pitchFamily="34" charset="0"/>
        <a:buChar char="•"/>
        <a:defRPr sz="1300" kern="1200">
          <a:solidFill>
            <a:schemeClr val="tx1"/>
          </a:solidFill>
          <a:latin typeface="+mn-lt"/>
          <a:ea typeface="+mn-ea"/>
          <a:cs typeface="+mn-cs"/>
        </a:defRPr>
      </a:lvl3pPr>
      <a:lvl4pPr marL="104013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4pPr>
      <a:lvl5pPr marL="133731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5pPr>
      <a:lvl6pPr marL="163449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6pPr>
      <a:lvl7pPr marL="193167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7pPr>
      <a:lvl8pPr marL="222885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8pPr>
      <a:lvl9pPr marL="2526030" indent="-148590" algn="l" defTabSz="594360" rtl="0" eaLnBrk="1" latinLnBrk="0" hangingPunct="1">
        <a:lnSpc>
          <a:spcPct val="90000"/>
        </a:lnSpc>
        <a:spcBef>
          <a:spcPts val="325"/>
        </a:spcBef>
        <a:buFont typeface="Arial" panose="020B0604020202020204" pitchFamily="34" charset="0"/>
        <a:buChar char="•"/>
        <a:defRPr sz="1170" kern="1200">
          <a:solidFill>
            <a:schemeClr val="tx1"/>
          </a:solidFill>
          <a:latin typeface="+mn-lt"/>
          <a:ea typeface="+mn-ea"/>
          <a:cs typeface="+mn-cs"/>
        </a:defRPr>
      </a:lvl9pPr>
    </p:bodyStyle>
    <p:otherStyle>
      <a:defPPr>
        <a:defRPr lang="en-US"/>
      </a:defPPr>
      <a:lvl1pPr marL="0" algn="l" defTabSz="594360" rtl="0" eaLnBrk="1" latinLnBrk="0" hangingPunct="1">
        <a:defRPr sz="1170" kern="1200">
          <a:solidFill>
            <a:schemeClr val="tx1"/>
          </a:solidFill>
          <a:latin typeface="+mn-lt"/>
          <a:ea typeface="+mn-ea"/>
          <a:cs typeface="+mn-cs"/>
        </a:defRPr>
      </a:lvl1pPr>
      <a:lvl2pPr marL="297180" algn="l" defTabSz="594360" rtl="0" eaLnBrk="1" latinLnBrk="0" hangingPunct="1">
        <a:defRPr sz="1170" kern="1200">
          <a:solidFill>
            <a:schemeClr val="tx1"/>
          </a:solidFill>
          <a:latin typeface="+mn-lt"/>
          <a:ea typeface="+mn-ea"/>
          <a:cs typeface="+mn-cs"/>
        </a:defRPr>
      </a:lvl2pPr>
      <a:lvl3pPr marL="594360" algn="l" defTabSz="594360" rtl="0" eaLnBrk="1" latinLnBrk="0" hangingPunct="1">
        <a:defRPr sz="1170" kern="1200">
          <a:solidFill>
            <a:schemeClr val="tx1"/>
          </a:solidFill>
          <a:latin typeface="+mn-lt"/>
          <a:ea typeface="+mn-ea"/>
          <a:cs typeface="+mn-cs"/>
        </a:defRPr>
      </a:lvl3pPr>
      <a:lvl4pPr marL="891540" algn="l" defTabSz="594360" rtl="0" eaLnBrk="1" latinLnBrk="0" hangingPunct="1">
        <a:defRPr sz="1170" kern="1200">
          <a:solidFill>
            <a:schemeClr val="tx1"/>
          </a:solidFill>
          <a:latin typeface="+mn-lt"/>
          <a:ea typeface="+mn-ea"/>
          <a:cs typeface="+mn-cs"/>
        </a:defRPr>
      </a:lvl4pPr>
      <a:lvl5pPr marL="1188720" algn="l" defTabSz="594360" rtl="0" eaLnBrk="1" latinLnBrk="0" hangingPunct="1">
        <a:defRPr sz="1170" kern="1200">
          <a:solidFill>
            <a:schemeClr val="tx1"/>
          </a:solidFill>
          <a:latin typeface="+mn-lt"/>
          <a:ea typeface="+mn-ea"/>
          <a:cs typeface="+mn-cs"/>
        </a:defRPr>
      </a:lvl5pPr>
      <a:lvl6pPr marL="1485900" algn="l" defTabSz="594360" rtl="0" eaLnBrk="1" latinLnBrk="0" hangingPunct="1">
        <a:defRPr sz="1170" kern="1200">
          <a:solidFill>
            <a:schemeClr val="tx1"/>
          </a:solidFill>
          <a:latin typeface="+mn-lt"/>
          <a:ea typeface="+mn-ea"/>
          <a:cs typeface="+mn-cs"/>
        </a:defRPr>
      </a:lvl6pPr>
      <a:lvl7pPr marL="1783080" algn="l" defTabSz="594360" rtl="0" eaLnBrk="1" latinLnBrk="0" hangingPunct="1">
        <a:defRPr sz="1170" kern="1200">
          <a:solidFill>
            <a:schemeClr val="tx1"/>
          </a:solidFill>
          <a:latin typeface="+mn-lt"/>
          <a:ea typeface="+mn-ea"/>
          <a:cs typeface="+mn-cs"/>
        </a:defRPr>
      </a:lvl7pPr>
      <a:lvl8pPr marL="2080260" algn="l" defTabSz="594360" rtl="0" eaLnBrk="1" latinLnBrk="0" hangingPunct="1">
        <a:defRPr sz="1170" kern="1200">
          <a:solidFill>
            <a:schemeClr val="tx1"/>
          </a:solidFill>
          <a:latin typeface="+mn-lt"/>
          <a:ea typeface="+mn-ea"/>
          <a:cs typeface="+mn-cs"/>
        </a:defRPr>
      </a:lvl8pPr>
      <a:lvl9pPr marL="2377440" algn="l" defTabSz="594360" rtl="0" eaLnBrk="1" latinLnBrk="0" hangingPunct="1">
        <a:defRPr sz="11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7716A96-05DD-BE1F-8657-07163550D950}"/>
              </a:ext>
            </a:extLst>
          </p:cNvPr>
          <p:cNvGrpSpPr/>
          <p:nvPr/>
        </p:nvGrpSpPr>
        <p:grpSpPr>
          <a:xfrm>
            <a:off x="1460982" y="32033"/>
            <a:ext cx="3056251" cy="914400"/>
            <a:chOff x="34612" y="1371600"/>
            <a:chExt cx="3056251" cy="914400"/>
          </a:xfrm>
        </p:grpSpPr>
        <p:sp>
          <p:nvSpPr>
            <p:cNvPr id="4" name="Rounded Rectangle 3">
              <a:extLst>
                <a:ext uri="{FF2B5EF4-FFF2-40B4-BE49-F238E27FC236}">
                  <a16:creationId xmlns:a16="http://schemas.microsoft.com/office/drawing/2014/main" id="{5F2B9A8F-4B36-8172-9BB6-611AF9E4379D}"/>
                </a:ext>
              </a:extLst>
            </p:cNvPr>
            <p:cNvSpPr/>
            <p:nvPr/>
          </p:nvSpPr>
          <p:spPr>
            <a:xfrm>
              <a:off x="985895" y="1524009"/>
              <a:ext cx="559536" cy="60958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MLP</a:t>
              </a:r>
            </a:p>
          </p:txBody>
        </p:sp>
        <p:sp>
          <p:nvSpPr>
            <p:cNvPr id="5" name="Rounded Rectangle 4">
              <a:extLst>
                <a:ext uri="{FF2B5EF4-FFF2-40B4-BE49-F238E27FC236}">
                  <a16:creationId xmlns:a16="http://schemas.microsoft.com/office/drawing/2014/main" id="{C924BC68-5257-C12E-43DD-CBE017A2CFE7}"/>
                </a:ext>
              </a:extLst>
            </p:cNvPr>
            <p:cNvSpPr/>
            <p:nvPr/>
          </p:nvSpPr>
          <p:spPr>
            <a:xfrm>
              <a:off x="2104969" y="1371600"/>
              <a:ext cx="559537" cy="9144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100" dirty="0"/>
                <a:t>1D CNN</a:t>
              </a:r>
            </a:p>
          </p:txBody>
        </p:sp>
        <p:cxnSp>
          <p:nvCxnSpPr>
            <p:cNvPr id="7" name="Straight Arrow Connector 6">
              <a:extLst>
                <a:ext uri="{FF2B5EF4-FFF2-40B4-BE49-F238E27FC236}">
                  <a16:creationId xmlns:a16="http://schemas.microsoft.com/office/drawing/2014/main" id="{A70DC5B3-FB80-307C-9C7D-7761A2E2705C}"/>
                </a:ext>
              </a:extLst>
            </p:cNvPr>
            <p:cNvCxnSpPr>
              <a:cxnSpLocks/>
            </p:cNvCxnSpPr>
            <p:nvPr/>
          </p:nvCxnSpPr>
          <p:spPr>
            <a:xfrm>
              <a:off x="540776" y="1730118"/>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2C814F8A-F78D-32D4-6488-40732EB6619D}"/>
                </a:ext>
              </a:extLst>
            </p:cNvPr>
            <p:cNvCxnSpPr>
              <a:cxnSpLocks/>
            </p:cNvCxnSpPr>
            <p:nvPr/>
          </p:nvCxnSpPr>
          <p:spPr>
            <a:xfrm>
              <a:off x="540776" y="1939712"/>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FF411718-6DD3-BD2C-BBE4-06E7F2023C4B}"/>
                </a:ext>
              </a:extLst>
            </p:cNvPr>
            <p:cNvSpPr txBox="1"/>
            <p:nvPr/>
          </p:nvSpPr>
          <p:spPr>
            <a:xfrm>
              <a:off x="34612" y="1436488"/>
              <a:ext cx="845376" cy="400110"/>
            </a:xfrm>
            <a:prstGeom prst="rect">
              <a:avLst/>
            </a:prstGeom>
            <a:noFill/>
          </p:spPr>
          <p:txBody>
            <a:bodyPr wrap="square" rtlCol="0">
              <a:spAutoFit/>
            </a:bodyPr>
            <a:lstStyle/>
            <a:p>
              <a:r>
                <a:rPr lang="en-US" sz="1000" dirty="0"/>
                <a:t>Categorical inputs</a:t>
              </a:r>
            </a:p>
          </p:txBody>
        </p:sp>
        <p:sp>
          <p:nvSpPr>
            <p:cNvPr id="14" name="TextBox 13">
              <a:extLst>
                <a:ext uri="{FF2B5EF4-FFF2-40B4-BE49-F238E27FC236}">
                  <a16:creationId xmlns:a16="http://schemas.microsoft.com/office/drawing/2014/main" id="{65BC77F2-3EE5-3103-FCBC-868CB26AABE2}"/>
                </a:ext>
              </a:extLst>
            </p:cNvPr>
            <p:cNvSpPr txBox="1"/>
            <p:nvPr/>
          </p:nvSpPr>
          <p:spPr>
            <a:xfrm>
              <a:off x="34612" y="1885890"/>
              <a:ext cx="845376" cy="400110"/>
            </a:xfrm>
            <a:prstGeom prst="rect">
              <a:avLst/>
            </a:prstGeom>
            <a:noFill/>
          </p:spPr>
          <p:txBody>
            <a:bodyPr wrap="square" rtlCol="0">
              <a:spAutoFit/>
            </a:bodyPr>
            <a:lstStyle/>
            <a:p>
              <a:r>
                <a:rPr lang="en-US" sz="1000" dirty="0"/>
                <a:t>Continuous inputs</a:t>
              </a:r>
            </a:p>
          </p:txBody>
        </p:sp>
        <p:cxnSp>
          <p:nvCxnSpPr>
            <p:cNvPr id="16" name="Straight Arrow Connector 15">
              <a:extLst>
                <a:ext uri="{FF2B5EF4-FFF2-40B4-BE49-F238E27FC236}">
                  <a16:creationId xmlns:a16="http://schemas.microsoft.com/office/drawing/2014/main" id="{B10140DA-0005-0A3F-945D-E14A8551A819}"/>
                </a:ext>
              </a:extLst>
            </p:cNvPr>
            <p:cNvCxnSpPr>
              <a:cxnSpLocks/>
              <a:stCxn id="4" idx="3"/>
              <a:endCxn id="5" idx="1"/>
            </p:cNvCxnSpPr>
            <p:nvPr/>
          </p:nvCxnSpPr>
          <p:spPr>
            <a:xfrm>
              <a:off x="1545431" y="1828800"/>
              <a:ext cx="55953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66F07E00-DBDD-A69D-5FB7-15B4E0006B9F}"/>
                </a:ext>
              </a:extLst>
            </p:cNvPr>
            <p:cNvSpPr txBox="1"/>
            <p:nvPr/>
          </p:nvSpPr>
          <p:spPr>
            <a:xfrm>
              <a:off x="1502035" y="1510212"/>
              <a:ext cx="646331" cy="575735"/>
            </a:xfrm>
            <a:prstGeom prst="rect">
              <a:avLst/>
            </a:prstGeom>
            <a:noFill/>
          </p:spPr>
          <p:txBody>
            <a:bodyPr wrap="none" rtlCol="0">
              <a:spAutoFit/>
            </a:bodyPr>
            <a:lstStyle/>
            <a:p>
              <a:pPr>
                <a:lnSpc>
                  <a:spcPct val="150000"/>
                </a:lnSpc>
              </a:pPr>
              <a:r>
                <a:rPr lang="en-US" sz="1100" dirty="0"/>
                <a:t>proto-</a:t>
              </a:r>
              <a:br>
                <a:rPr lang="en-US" sz="1100" dirty="0"/>
              </a:br>
              <a:r>
                <a:rPr lang="en-US" sz="1100" dirty="0"/>
                <a:t>spectra</a:t>
              </a:r>
            </a:p>
          </p:txBody>
        </p:sp>
        <p:cxnSp>
          <p:nvCxnSpPr>
            <p:cNvPr id="22" name="Straight Arrow Connector 21">
              <a:extLst>
                <a:ext uri="{FF2B5EF4-FFF2-40B4-BE49-F238E27FC236}">
                  <a16:creationId xmlns:a16="http://schemas.microsoft.com/office/drawing/2014/main" id="{80307467-5AB6-40AB-6BD2-3B78AB576831}"/>
                </a:ext>
              </a:extLst>
            </p:cNvPr>
            <p:cNvCxnSpPr>
              <a:stCxn id="5" idx="3"/>
            </p:cNvCxnSpPr>
            <p:nvPr/>
          </p:nvCxnSpPr>
          <p:spPr>
            <a:xfrm>
              <a:off x="2664504" y="1828800"/>
              <a:ext cx="32450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F3EF4B86-B4AD-36FB-5270-FC21060DD2C1}"/>
                </a:ext>
              </a:extLst>
            </p:cNvPr>
            <p:cNvSpPr txBox="1"/>
            <p:nvPr/>
          </p:nvSpPr>
          <p:spPr>
            <a:xfrm>
              <a:off x="2646511" y="1584724"/>
              <a:ext cx="444352" cy="261610"/>
            </a:xfrm>
            <a:prstGeom prst="rect">
              <a:avLst/>
            </a:prstGeom>
            <a:noFill/>
          </p:spPr>
          <p:txBody>
            <a:bodyPr wrap="none" rtlCol="0">
              <a:spAutoFit/>
            </a:bodyPr>
            <a:lstStyle/>
            <a:p>
              <a:r>
                <a:rPr lang="en-US" sz="1100" dirty="0"/>
                <a:t>XRD</a:t>
              </a:r>
            </a:p>
          </p:txBody>
        </p:sp>
      </p:grpSp>
      <p:pic>
        <p:nvPicPr>
          <p:cNvPr id="3" name="Picture 2">
            <a:extLst>
              <a:ext uri="{FF2B5EF4-FFF2-40B4-BE49-F238E27FC236}">
                <a16:creationId xmlns:a16="http://schemas.microsoft.com/office/drawing/2014/main" id="{477C694A-02E8-0DFA-FB6D-377C057DB824}"/>
              </a:ext>
            </a:extLst>
          </p:cNvPr>
          <p:cNvPicPr>
            <a:picLocks noChangeAspect="1"/>
          </p:cNvPicPr>
          <p:nvPr/>
        </p:nvPicPr>
        <p:blipFill>
          <a:blip/>
          <a:stretch>
            <a:fillRect/>
          </a:stretch>
        </p:blipFill>
        <p:spPr>
          <a:xfrm>
            <a:off x="1437031" y="4206710"/>
            <a:ext cx="3094293" cy="3565690"/>
          </a:xfrm>
          <a:prstGeom prst="rect">
            <a:avLst/>
          </a:prstGeom>
        </p:spPr>
      </p:pic>
      <p:pic>
        <p:nvPicPr>
          <p:cNvPr id="11" name="Picture 10">
            <a:extLst>
              <a:ext uri="{FF2B5EF4-FFF2-40B4-BE49-F238E27FC236}">
                <a16:creationId xmlns:a16="http://schemas.microsoft.com/office/drawing/2014/main" id="{CD1C79BE-06B4-0435-D4A7-291259D9A6AC}"/>
              </a:ext>
            </a:extLst>
          </p:cNvPr>
          <p:cNvPicPr>
            <a:picLocks noChangeAspect="1"/>
          </p:cNvPicPr>
          <p:nvPr/>
        </p:nvPicPr>
        <p:blipFill>
          <a:blip/>
          <a:stretch>
            <a:fillRect/>
          </a:stretch>
        </p:blipFill>
        <p:spPr>
          <a:xfrm>
            <a:off x="1426370" y="2790578"/>
            <a:ext cx="3090863" cy="1416132"/>
          </a:xfrm>
          <a:prstGeom prst="rect">
            <a:avLst/>
          </a:prstGeom>
        </p:spPr>
      </p:pic>
      <p:pic>
        <p:nvPicPr>
          <p:cNvPr id="13" name="Picture 12">
            <a:extLst>
              <a:ext uri="{FF2B5EF4-FFF2-40B4-BE49-F238E27FC236}">
                <a16:creationId xmlns:a16="http://schemas.microsoft.com/office/drawing/2014/main" id="{A2099BD2-490F-7EA6-76A8-8CB441A4906F}"/>
              </a:ext>
            </a:extLst>
          </p:cNvPr>
          <p:cNvPicPr>
            <a:picLocks noChangeAspect="1"/>
          </p:cNvPicPr>
          <p:nvPr/>
        </p:nvPicPr>
        <p:blipFill>
          <a:blip/>
          <a:stretch>
            <a:fillRect/>
          </a:stretch>
        </p:blipFill>
        <p:spPr>
          <a:xfrm>
            <a:off x="1437031" y="931137"/>
            <a:ext cx="3090863" cy="1859443"/>
          </a:xfrm>
          <a:prstGeom prst="rect">
            <a:avLst/>
          </a:prstGeom>
        </p:spPr>
      </p:pic>
      <p:sp>
        <p:nvSpPr>
          <p:cNvPr id="15" name="TextBox 14">
            <a:extLst>
              <a:ext uri="{FF2B5EF4-FFF2-40B4-BE49-F238E27FC236}">
                <a16:creationId xmlns:a16="http://schemas.microsoft.com/office/drawing/2014/main" id="{040F6056-EF12-057D-EEB3-DAE6F13D3C58}"/>
              </a:ext>
            </a:extLst>
          </p:cNvPr>
          <p:cNvSpPr txBox="1"/>
          <p:nvPr/>
        </p:nvSpPr>
        <p:spPr>
          <a:xfrm>
            <a:off x="4216589" y="-59518"/>
            <a:ext cx="311304" cy="369332"/>
          </a:xfrm>
          <a:prstGeom prst="rect">
            <a:avLst/>
          </a:prstGeom>
          <a:noFill/>
        </p:spPr>
        <p:txBody>
          <a:bodyPr wrap="none" rtlCol="0">
            <a:spAutoFit/>
          </a:bodyPr>
          <a:lstStyle/>
          <a:p>
            <a:r>
              <a:rPr lang="en-US" b="1" dirty="0"/>
              <a:t>a</a:t>
            </a:r>
          </a:p>
        </p:txBody>
      </p:sp>
      <p:sp>
        <p:nvSpPr>
          <p:cNvPr id="18" name="TextBox 17">
            <a:extLst>
              <a:ext uri="{FF2B5EF4-FFF2-40B4-BE49-F238E27FC236}">
                <a16:creationId xmlns:a16="http://schemas.microsoft.com/office/drawing/2014/main" id="{D2BF5434-1E9D-6E41-ABEB-A985422FA5C6}"/>
              </a:ext>
            </a:extLst>
          </p:cNvPr>
          <p:cNvSpPr txBox="1"/>
          <p:nvPr/>
        </p:nvSpPr>
        <p:spPr>
          <a:xfrm>
            <a:off x="4219236" y="874047"/>
            <a:ext cx="319318" cy="369332"/>
          </a:xfrm>
          <a:prstGeom prst="rect">
            <a:avLst/>
          </a:prstGeom>
          <a:noFill/>
        </p:spPr>
        <p:txBody>
          <a:bodyPr wrap="none" rtlCol="0">
            <a:spAutoFit/>
          </a:bodyPr>
          <a:lstStyle/>
          <a:p>
            <a:r>
              <a:rPr lang="en-US" b="1" dirty="0"/>
              <a:t>b</a:t>
            </a:r>
          </a:p>
        </p:txBody>
      </p:sp>
      <p:sp>
        <p:nvSpPr>
          <p:cNvPr id="19" name="TextBox 18">
            <a:extLst>
              <a:ext uri="{FF2B5EF4-FFF2-40B4-BE49-F238E27FC236}">
                <a16:creationId xmlns:a16="http://schemas.microsoft.com/office/drawing/2014/main" id="{E5E4DEBA-62DF-F694-0B5C-D16569B7648F}"/>
              </a:ext>
            </a:extLst>
          </p:cNvPr>
          <p:cNvSpPr txBox="1"/>
          <p:nvPr/>
        </p:nvSpPr>
        <p:spPr>
          <a:xfrm>
            <a:off x="4187253" y="2743022"/>
            <a:ext cx="311304" cy="369332"/>
          </a:xfrm>
          <a:prstGeom prst="rect">
            <a:avLst/>
          </a:prstGeom>
          <a:noFill/>
        </p:spPr>
        <p:txBody>
          <a:bodyPr wrap="none" rtlCol="0">
            <a:spAutoFit/>
          </a:bodyPr>
          <a:lstStyle/>
          <a:p>
            <a:r>
              <a:rPr lang="en-US" b="1" dirty="0"/>
              <a:t>c</a:t>
            </a:r>
          </a:p>
        </p:txBody>
      </p:sp>
      <p:sp>
        <p:nvSpPr>
          <p:cNvPr id="20" name="TextBox 19">
            <a:extLst>
              <a:ext uri="{FF2B5EF4-FFF2-40B4-BE49-F238E27FC236}">
                <a16:creationId xmlns:a16="http://schemas.microsoft.com/office/drawing/2014/main" id="{D37B9644-0C67-E337-B24C-FA95D10D9CFE}"/>
              </a:ext>
            </a:extLst>
          </p:cNvPr>
          <p:cNvSpPr txBox="1"/>
          <p:nvPr/>
        </p:nvSpPr>
        <p:spPr>
          <a:xfrm>
            <a:off x="4184948" y="4105556"/>
            <a:ext cx="319318" cy="369332"/>
          </a:xfrm>
          <a:prstGeom prst="rect">
            <a:avLst/>
          </a:prstGeom>
          <a:noFill/>
        </p:spPr>
        <p:txBody>
          <a:bodyPr wrap="none" rtlCol="0">
            <a:spAutoFit/>
          </a:bodyPr>
          <a:lstStyle/>
          <a:p>
            <a:r>
              <a:rPr lang="en-US" b="1" dirty="0"/>
              <a:t>d</a:t>
            </a:r>
          </a:p>
        </p:txBody>
      </p:sp>
    </p:spTree>
    <p:extLst>
      <p:ext uri="{BB962C8B-B14F-4D97-AF65-F5344CB8AC3E}">
        <p14:creationId xmlns:p14="http://schemas.microsoft.com/office/powerpoint/2010/main" val="180679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EA21564-77F4-DFEB-B5C7-CED28422374E}"/>
              </a:ext>
            </a:extLst>
          </p:cNvPr>
          <p:cNvPicPr>
            <a:picLocks noChangeAspect="1"/>
          </p:cNvPicPr>
          <p:nvPr/>
        </p:nvPicPr>
        <p:blipFill>
          <a:blip/>
          <a:stretch>
            <a:fillRect/>
          </a:stretch>
        </p:blipFill>
        <p:spPr>
          <a:xfrm>
            <a:off x="2467462" y="0"/>
            <a:ext cx="2449395" cy="2822545"/>
          </a:xfrm>
          <a:prstGeom prst="rect">
            <a:avLst/>
          </a:prstGeom>
        </p:spPr>
      </p:pic>
      <p:pic>
        <p:nvPicPr>
          <p:cNvPr id="15" name="Picture 14">
            <a:extLst>
              <a:ext uri="{FF2B5EF4-FFF2-40B4-BE49-F238E27FC236}">
                <a16:creationId xmlns:a16="http://schemas.microsoft.com/office/drawing/2014/main" id="{915F7B7D-A828-1D4C-9F0E-AF0126B61821}"/>
              </a:ext>
            </a:extLst>
          </p:cNvPr>
          <p:cNvPicPr>
            <a:picLocks noChangeAspect="1"/>
          </p:cNvPicPr>
          <p:nvPr/>
        </p:nvPicPr>
        <p:blipFill>
          <a:blip/>
          <a:stretch>
            <a:fillRect/>
          </a:stretch>
        </p:blipFill>
        <p:spPr>
          <a:xfrm>
            <a:off x="0" y="501320"/>
            <a:ext cx="2452526" cy="1241756"/>
          </a:xfrm>
          <a:prstGeom prst="rect">
            <a:avLst/>
          </a:prstGeom>
        </p:spPr>
      </p:pic>
      <p:grpSp>
        <p:nvGrpSpPr>
          <p:cNvPr id="2" name="Group 1">
            <a:extLst>
              <a:ext uri="{FF2B5EF4-FFF2-40B4-BE49-F238E27FC236}">
                <a16:creationId xmlns:a16="http://schemas.microsoft.com/office/drawing/2014/main" id="{68667925-0098-3ED4-654C-C155189693A4}"/>
              </a:ext>
            </a:extLst>
          </p:cNvPr>
          <p:cNvGrpSpPr/>
          <p:nvPr/>
        </p:nvGrpSpPr>
        <p:grpSpPr>
          <a:xfrm>
            <a:off x="2" y="19933"/>
            <a:ext cx="2478880" cy="623783"/>
            <a:chOff x="34612" y="1371600"/>
            <a:chExt cx="2986143" cy="1065765"/>
          </a:xfrm>
        </p:grpSpPr>
        <p:sp>
          <p:nvSpPr>
            <p:cNvPr id="3" name="Rounded Rectangle 2">
              <a:extLst>
                <a:ext uri="{FF2B5EF4-FFF2-40B4-BE49-F238E27FC236}">
                  <a16:creationId xmlns:a16="http://schemas.microsoft.com/office/drawing/2014/main" id="{FC34FA5B-0558-CF4E-2F35-E7A06B871CEB}"/>
                </a:ext>
              </a:extLst>
            </p:cNvPr>
            <p:cNvSpPr/>
            <p:nvPr/>
          </p:nvSpPr>
          <p:spPr>
            <a:xfrm>
              <a:off x="985895" y="1524009"/>
              <a:ext cx="559536" cy="60958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00" dirty="0"/>
                <a:t>MLP</a:t>
              </a:r>
            </a:p>
          </p:txBody>
        </p:sp>
        <p:sp>
          <p:nvSpPr>
            <p:cNvPr id="4" name="Rounded Rectangle 3">
              <a:extLst>
                <a:ext uri="{FF2B5EF4-FFF2-40B4-BE49-F238E27FC236}">
                  <a16:creationId xmlns:a16="http://schemas.microsoft.com/office/drawing/2014/main" id="{5A9EE49D-056E-7788-5972-0CAEA077353E}"/>
                </a:ext>
              </a:extLst>
            </p:cNvPr>
            <p:cNvSpPr/>
            <p:nvPr/>
          </p:nvSpPr>
          <p:spPr>
            <a:xfrm>
              <a:off x="2104969" y="1371600"/>
              <a:ext cx="559537" cy="9144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00" dirty="0"/>
                <a:t>1D CNN</a:t>
              </a:r>
            </a:p>
          </p:txBody>
        </p:sp>
        <p:cxnSp>
          <p:nvCxnSpPr>
            <p:cNvPr id="5" name="Straight Arrow Connector 4">
              <a:extLst>
                <a:ext uri="{FF2B5EF4-FFF2-40B4-BE49-F238E27FC236}">
                  <a16:creationId xmlns:a16="http://schemas.microsoft.com/office/drawing/2014/main" id="{F844C79E-5FEC-0D8E-64D2-286B26A26EA3}"/>
                </a:ext>
              </a:extLst>
            </p:cNvPr>
            <p:cNvCxnSpPr>
              <a:cxnSpLocks/>
            </p:cNvCxnSpPr>
            <p:nvPr/>
          </p:nvCxnSpPr>
          <p:spPr>
            <a:xfrm>
              <a:off x="540776" y="1730118"/>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40276370-1245-E5D0-3228-2018F1564A19}"/>
                </a:ext>
              </a:extLst>
            </p:cNvPr>
            <p:cNvCxnSpPr>
              <a:cxnSpLocks/>
            </p:cNvCxnSpPr>
            <p:nvPr/>
          </p:nvCxnSpPr>
          <p:spPr>
            <a:xfrm>
              <a:off x="540776" y="1939712"/>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B2F3E47D-3D39-E6E0-AC2E-0C094C34E7C1}"/>
                </a:ext>
              </a:extLst>
            </p:cNvPr>
            <p:cNvSpPr txBox="1"/>
            <p:nvPr/>
          </p:nvSpPr>
          <p:spPr>
            <a:xfrm>
              <a:off x="34612" y="1436489"/>
              <a:ext cx="845376" cy="551475"/>
            </a:xfrm>
            <a:prstGeom prst="rect">
              <a:avLst/>
            </a:prstGeom>
            <a:noFill/>
          </p:spPr>
          <p:txBody>
            <a:bodyPr wrap="square" rtlCol="0">
              <a:spAutoFit/>
            </a:bodyPr>
            <a:lstStyle/>
            <a:p>
              <a:r>
                <a:rPr lang="en-US" sz="800" dirty="0"/>
                <a:t>Categorical inputs</a:t>
              </a:r>
            </a:p>
          </p:txBody>
        </p:sp>
        <p:sp>
          <p:nvSpPr>
            <p:cNvPr id="8" name="TextBox 7">
              <a:extLst>
                <a:ext uri="{FF2B5EF4-FFF2-40B4-BE49-F238E27FC236}">
                  <a16:creationId xmlns:a16="http://schemas.microsoft.com/office/drawing/2014/main" id="{65CCE49F-C8F2-C890-4C3C-676BABA8DBD6}"/>
                </a:ext>
              </a:extLst>
            </p:cNvPr>
            <p:cNvSpPr txBox="1"/>
            <p:nvPr/>
          </p:nvSpPr>
          <p:spPr>
            <a:xfrm>
              <a:off x="34612" y="1885890"/>
              <a:ext cx="845376" cy="551475"/>
            </a:xfrm>
            <a:prstGeom prst="rect">
              <a:avLst/>
            </a:prstGeom>
            <a:noFill/>
          </p:spPr>
          <p:txBody>
            <a:bodyPr wrap="square" rtlCol="0">
              <a:spAutoFit/>
            </a:bodyPr>
            <a:lstStyle/>
            <a:p>
              <a:r>
                <a:rPr lang="en-US" sz="800" dirty="0"/>
                <a:t>Continuous inputs</a:t>
              </a:r>
            </a:p>
          </p:txBody>
        </p:sp>
        <p:cxnSp>
          <p:nvCxnSpPr>
            <p:cNvPr id="9" name="Straight Arrow Connector 8">
              <a:extLst>
                <a:ext uri="{FF2B5EF4-FFF2-40B4-BE49-F238E27FC236}">
                  <a16:creationId xmlns:a16="http://schemas.microsoft.com/office/drawing/2014/main" id="{167FADCF-34D5-DB5F-6224-8F28E62A6680}"/>
                </a:ext>
              </a:extLst>
            </p:cNvPr>
            <p:cNvCxnSpPr>
              <a:cxnSpLocks/>
              <a:stCxn id="3" idx="3"/>
              <a:endCxn id="4" idx="1"/>
            </p:cNvCxnSpPr>
            <p:nvPr/>
          </p:nvCxnSpPr>
          <p:spPr>
            <a:xfrm>
              <a:off x="1545431" y="1828800"/>
              <a:ext cx="55953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D4CC4DFD-50F3-895A-CB32-2E188DF466E3}"/>
                </a:ext>
              </a:extLst>
            </p:cNvPr>
            <p:cNvSpPr txBox="1"/>
            <p:nvPr/>
          </p:nvSpPr>
          <p:spPr>
            <a:xfrm>
              <a:off x="1502035" y="1403442"/>
              <a:ext cx="523493" cy="723081"/>
            </a:xfrm>
            <a:prstGeom prst="rect">
              <a:avLst/>
            </a:prstGeom>
            <a:noFill/>
          </p:spPr>
          <p:txBody>
            <a:bodyPr wrap="none" rtlCol="0">
              <a:spAutoFit/>
            </a:bodyPr>
            <a:lstStyle/>
            <a:p>
              <a:pPr>
                <a:lnSpc>
                  <a:spcPct val="150000"/>
                </a:lnSpc>
              </a:pPr>
              <a:r>
                <a:rPr lang="en-US" sz="800" dirty="0"/>
                <a:t>proto-</a:t>
              </a:r>
              <a:br>
                <a:rPr lang="en-US" sz="800" dirty="0"/>
              </a:br>
              <a:r>
                <a:rPr lang="en-US" sz="800" dirty="0"/>
                <a:t>spectra</a:t>
              </a:r>
            </a:p>
          </p:txBody>
        </p:sp>
        <p:cxnSp>
          <p:nvCxnSpPr>
            <p:cNvPr id="11" name="Straight Arrow Connector 10">
              <a:extLst>
                <a:ext uri="{FF2B5EF4-FFF2-40B4-BE49-F238E27FC236}">
                  <a16:creationId xmlns:a16="http://schemas.microsoft.com/office/drawing/2014/main" id="{807DA868-8EDD-6A74-781E-B977639BE415}"/>
                </a:ext>
              </a:extLst>
            </p:cNvPr>
            <p:cNvCxnSpPr>
              <a:stCxn id="4" idx="3"/>
            </p:cNvCxnSpPr>
            <p:nvPr/>
          </p:nvCxnSpPr>
          <p:spPr>
            <a:xfrm>
              <a:off x="2664504" y="1828800"/>
              <a:ext cx="32450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C6F0470C-87D5-CA41-00CE-E3DCE7F9D9E7}"/>
                </a:ext>
              </a:extLst>
            </p:cNvPr>
            <p:cNvSpPr txBox="1"/>
            <p:nvPr/>
          </p:nvSpPr>
          <p:spPr>
            <a:xfrm>
              <a:off x="2646511" y="1472664"/>
              <a:ext cx="374244" cy="350940"/>
            </a:xfrm>
            <a:prstGeom prst="rect">
              <a:avLst/>
            </a:prstGeom>
            <a:noFill/>
          </p:spPr>
          <p:txBody>
            <a:bodyPr wrap="none" rtlCol="0">
              <a:spAutoFit/>
            </a:bodyPr>
            <a:lstStyle/>
            <a:p>
              <a:r>
                <a:rPr lang="en-US" sz="800" dirty="0"/>
                <a:t>XRD</a:t>
              </a:r>
            </a:p>
          </p:txBody>
        </p:sp>
      </p:grpSp>
      <p:pic>
        <p:nvPicPr>
          <p:cNvPr id="14" name="Picture 13">
            <a:extLst>
              <a:ext uri="{FF2B5EF4-FFF2-40B4-BE49-F238E27FC236}">
                <a16:creationId xmlns:a16="http://schemas.microsoft.com/office/drawing/2014/main" id="{016EE3EB-B83C-0D8A-1140-92265450A54B}"/>
              </a:ext>
            </a:extLst>
          </p:cNvPr>
          <p:cNvPicPr>
            <a:picLocks noChangeAspect="1"/>
          </p:cNvPicPr>
          <p:nvPr/>
        </p:nvPicPr>
        <p:blipFill>
          <a:blip/>
          <a:srcRect t="4954"/>
          <a:stretch>
            <a:fillRect/>
          </a:stretch>
        </p:blipFill>
        <p:spPr>
          <a:xfrm>
            <a:off x="1" y="1743077"/>
            <a:ext cx="2478882" cy="1079478"/>
          </a:xfrm>
          <a:prstGeom prst="rect">
            <a:avLst/>
          </a:prstGeom>
        </p:spPr>
      </p:pic>
    </p:spTree>
    <p:extLst>
      <p:ext uri="{BB962C8B-B14F-4D97-AF65-F5344CB8AC3E}">
        <p14:creationId xmlns:p14="http://schemas.microsoft.com/office/powerpoint/2010/main" val="3691191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0C5FEDB-DBAF-32DB-4357-E69575B3A2A5}"/>
              </a:ext>
            </a:extLst>
          </p:cNvPr>
          <p:cNvPicPr>
            <a:picLocks noChangeAspect="1"/>
          </p:cNvPicPr>
          <p:nvPr/>
        </p:nvPicPr>
        <p:blipFill>
          <a:blip/>
          <a:stretch>
            <a:fillRect/>
          </a:stretch>
        </p:blipFill>
        <p:spPr>
          <a:xfrm>
            <a:off x="0" y="528860"/>
            <a:ext cx="2452526" cy="1241756"/>
          </a:xfrm>
          <a:prstGeom prst="rect">
            <a:avLst/>
          </a:prstGeom>
        </p:spPr>
      </p:pic>
      <p:grpSp>
        <p:nvGrpSpPr>
          <p:cNvPr id="15" name="Group 14">
            <a:extLst>
              <a:ext uri="{FF2B5EF4-FFF2-40B4-BE49-F238E27FC236}">
                <a16:creationId xmlns:a16="http://schemas.microsoft.com/office/drawing/2014/main" id="{27A706BA-6211-677F-7AFC-FB0DDE8F2178}"/>
              </a:ext>
            </a:extLst>
          </p:cNvPr>
          <p:cNvGrpSpPr/>
          <p:nvPr/>
        </p:nvGrpSpPr>
        <p:grpSpPr>
          <a:xfrm>
            <a:off x="49574" y="-61946"/>
            <a:ext cx="2467864" cy="617068"/>
            <a:chOff x="94327" y="1231703"/>
            <a:chExt cx="2972873" cy="1054297"/>
          </a:xfrm>
        </p:grpSpPr>
        <p:sp>
          <p:nvSpPr>
            <p:cNvPr id="16" name="Rounded Rectangle 15">
              <a:extLst>
                <a:ext uri="{FF2B5EF4-FFF2-40B4-BE49-F238E27FC236}">
                  <a16:creationId xmlns:a16="http://schemas.microsoft.com/office/drawing/2014/main" id="{092CE8CC-92D3-93B9-20AA-05EAECCB413D}"/>
                </a:ext>
              </a:extLst>
            </p:cNvPr>
            <p:cNvSpPr/>
            <p:nvPr/>
          </p:nvSpPr>
          <p:spPr>
            <a:xfrm>
              <a:off x="1032341" y="1524010"/>
              <a:ext cx="559536" cy="60958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00" dirty="0"/>
                <a:t>MLP</a:t>
              </a:r>
            </a:p>
          </p:txBody>
        </p:sp>
        <p:sp>
          <p:nvSpPr>
            <p:cNvPr id="17" name="Rounded Rectangle 16">
              <a:extLst>
                <a:ext uri="{FF2B5EF4-FFF2-40B4-BE49-F238E27FC236}">
                  <a16:creationId xmlns:a16="http://schemas.microsoft.com/office/drawing/2014/main" id="{14E700BC-6840-42EB-D0A2-E8DB30ECEA2F}"/>
                </a:ext>
              </a:extLst>
            </p:cNvPr>
            <p:cNvSpPr/>
            <p:nvPr/>
          </p:nvSpPr>
          <p:spPr>
            <a:xfrm>
              <a:off x="2151414" y="1371599"/>
              <a:ext cx="559537" cy="91440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00" dirty="0"/>
                <a:t>1D CNN</a:t>
              </a:r>
            </a:p>
          </p:txBody>
        </p:sp>
        <p:cxnSp>
          <p:nvCxnSpPr>
            <p:cNvPr id="18" name="Straight Arrow Connector 17">
              <a:extLst>
                <a:ext uri="{FF2B5EF4-FFF2-40B4-BE49-F238E27FC236}">
                  <a16:creationId xmlns:a16="http://schemas.microsoft.com/office/drawing/2014/main" id="{E7E4E4A0-756F-68B4-142A-33BBDC0ACEBE}"/>
                </a:ext>
              </a:extLst>
            </p:cNvPr>
            <p:cNvCxnSpPr>
              <a:cxnSpLocks/>
            </p:cNvCxnSpPr>
            <p:nvPr/>
          </p:nvCxnSpPr>
          <p:spPr>
            <a:xfrm>
              <a:off x="587221" y="1730118"/>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56E5E3F-D9F8-1A75-3AD2-7E0D9E59BED2}"/>
                </a:ext>
              </a:extLst>
            </p:cNvPr>
            <p:cNvCxnSpPr>
              <a:cxnSpLocks/>
            </p:cNvCxnSpPr>
            <p:nvPr/>
          </p:nvCxnSpPr>
          <p:spPr>
            <a:xfrm>
              <a:off x="587221" y="1939713"/>
              <a:ext cx="445121"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1D8D0F1F-F38B-1394-6744-A557FE82A883}"/>
                </a:ext>
              </a:extLst>
            </p:cNvPr>
            <p:cNvSpPr txBox="1"/>
            <p:nvPr/>
          </p:nvSpPr>
          <p:spPr>
            <a:xfrm>
              <a:off x="105587" y="1231703"/>
              <a:ext cx="845376" cy="551477"/>
            </a:xfrm>
            <a:prstGeom prst="rect">
              <a:avLst/>
            </a:prstGeom>
            <a:noFill/>
          </p:spPr>
          <p:txBody>
            <a:bodyPr wrap="square" rtlCol="0">
              <a:spAutoFit/>
            </a:bodyPr>
            <a:lstStyle/>
            <a:p>
              <a:r>
                <a:rPr lang="en-US" sz="800" dirty="0"/>
                <a:t>Categorical inputs</a:t>
              </a:r>
            </a:p>
          </p:txBody>
        </p:sp>
        <p:sp>
          <p:nvSpPr>
            <p:cNvPr id="21" name="TextBox 20">
              <a:extLst>
                <a:ext uri="{FF2B5EF4-FFF2-40B4-BE49-F238E27FC236}">
                  <a16:creationId xmlns:a16="http://schemas.microsoft.com/office/drawing/2014/main" id="{061B681A-EE19-06AF-0A63-83C61871DC2F}"/>
                </a:ext>
              </a:extLst>
            </p:cNvPr>
            <p:cNvSpPr txBox="1"/>
            <p:nvPr/>
          </p:nvSpPr>
          <p:spPr>
            <a:xfrm>
              <a:off x="94327" y="1669442"/>
              <a:ext cx="845376" cy="578440"/>
            </a:xfrm>
            <a:prstGeom prst="rect">
              <a:avLst/>
            </a:prstGeom>
            <a:noFill/>
          </p:spPr>
          <p:txBody>
            <a:bodyPr wrap="square" rtlCol="0">
              <a:spAutoFit/>
            </a:bodyPr>
            <a:lstStyle/>
            <a:p>
              <a:r>
                <a:rPr lang="en-US" sz="800" dirty="0"/>
                <a:t>Contin-</a:t>
              </a:r>
              <a:r>
                <a:rPr lang="en-US" sz="800" dirty="0" err="1"/>
                <a:t>uous</a:t>
              </a:r>
              <a:r>
                <a:rPr lang="en-US" sz="800" dirty="0"/>
                <a:t> inputs</a:t>
              </a:r>
            </a:p>
          </p:txBody>
        </p:sp>
        <p:cxnSp>
          <p:nvCxnSpPr>
            <p:cNvPr id="22" name="Straight Arrow Connector 21">
              <a:extLst>
                <a:ext uri="{FF2B5EF4-FFF2-40B4-BE49-F238E27FC236}">
                  <a16:creationId xmlns:a16="http://schemas.microsoft.com/office/drawing/2014/main" id="{B0F411AB-8A6E-1387-5AD3-C65DA51AA104}"/>
                </a:ext>
              </a:extLst>
            </p:cNvPr>
            <p:cNvCxnSpPr>
              <a:cxnSpLocks/>
              <a:stCxn id="16" idx="3"/>
              <a:endCxn id="17" idx="1"/>
            </p:cNvCxnSpPr>
            <p:nvPr/>
          </p:nvCxnSpPr>
          <p:spPr>
            <a:xfrm>
              <a:off x="1591876" y="1828800"/>
              <a:ext cx="55953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7205DBC-F7C6-E888-5F28-3AAC33238B9D}"/>
                </a:ext>
              </a:extLst>
            </p:cNvPr>
            <p:cNvSpPr txBox="1"/>
            <p:nvPr/>
          </p:nvSpPr>
          <p:spPr>
            <a:xfrm>
              <a:off x="1548481" y="1403442"/>
              <a:ext cx="523493" cy="723081"/>
            </a:xfrm>
            <a:prstGeom prst="rect">
              <a:avLst/>
            </a:prstGeom>
            <a:noFill/>
          </p:spPr>
          <p:txBody>
            <a:bodyPr wrap="none" rtlCol="0">
              <a:spAutoFit/>
            </a:bodyPr>
            <a:lstStyle/>
            <a:p>
              <a:pPr>
                <a:lnSpc>
                  <a:spcPct val="150000"/>
                </a:lnSpc>
              </a:pPr>
              <a:r>
                <a:rPr lang="en-US" sz="800" dirty="0"/>
                <a:t>proto-</a:t>
              </a:r>
              <a:br>
                <a:rPr lang="en-US" sz="800" dirty="0"/>
              </a:br>
              <a:r>
                <a:rPr lang="en-US" sz="800" dirty="0"/>
                <a:t>spectra</a:t>
              </a:r>
            </a:p>
          </p:txBody>
        </p:sp>
        <p:cxnSp>
          <p:nvCxnSpPr>
            <p:cNvPr id="24" name="Straight Arrow Connector 23">
              <a:extLst>
                <a:ext uri="{FF2B5EF4-FFF2-40B4-BE49-F238E27FC236}">
                  <a16:creationId xmlns:a16="http://schemas.microsoft.com/office/drawing/2014/main" id="{1C7487D3-4AE5-26E1-23E4-FBC2D99C0FC3}"/>
                </a:ext>
              </a:extLst>
            </p:cNvPr>
            <p:cNvCxnSpPr>
              <a:stCxn id="17" idx="3"/>
            </p:cNvCxnSpPr>
            <p:nvPr/>
          </p:nvCxnSpPr>
          <p:spPr>
            <a:xfrm>
              <a:off x="2710949" y="1828800"/>
              <a:ext cx="32450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0A17FBB9-D8B0-4957-5601-7DD172C4EC02}"/>
                </a:ext>
              </a:extLst>
            </p:cNvPr>
            <p:cNvSpPr txBox="1"/>
            <p:nvPr/>
          </p:nvSpPr>
          <p:spPr>
            <a:xfrm>
              <a:off x="2692956" y="1472664"/>
              <a:ext cx="374244" cy="350940"/>
            </a:xfrm>
            <a:prstGeom prst="rect">
              <a:avLst/>
            </a:prstGeom>
            <a:noFill/>
          </p:spPr>
          <p:txBody>
            <a:bodyPr wrap="none" rtlCol="0">
              <a:spAutoFit/>
            </a:bodyPr>
            <a:lstStyle/>
            <a:p>
              <a:r>
                <a:rPr lang="en-US" sz="800" dirty="0"/>
                <a:t>XRD</a:t>
              </a:r>
            </a:p>
          </p:txBody>
        </p:sp>
      </p:grpSp>
      <p:pic>
        <p:nvPicPr>
          <p:cNvPr id="26" name="Picture 25">
            <a:extLst>
              <a:ext uri="{FF2B5EF4-FFF2-40B4-BE49-F238E27FC236}">
                <a16:creationId xmlns:a16="http://schemas.microsoft.com/office/drawing/2014/main" id="{AE65D038-8A43-4CD9-90A5-A4AA9A910E5E}"/>
              </a:ext>
            </a:extLst>
          </p:cNvPr>
          <p:cNvPicPr>
            <a:picLocks noChangeAspect="1"/>
          </p:cNvPicPr>
          <p:nvPr/>
        </p:nvPicPr>
        <p:blipFill>
          <a:blip/>
          <a:srcRect t="4954"/>
          <a:stretch>
            <a:fillRect/>
          </a:stretch>
        </p:blipFill>
        <p:spPr>
          <a:xfrm>
            <a:off x="1" y="1743077"/>
            <a:ext cx="2478882" cy="1079478"/>
          </a:xfrm>
          <a:prstGeom prst="rect">
            <a:avLst/>
          </a:prstGeom>
        </p:spPr>
      </p:pic>
      <p:pic>
        <p:nvPicPr>
          <p:cNvPr id="34" name="Picture 33">
            <a:extLst>
              <a:ext uri="{FF2B5EF4-FFF2-40B4-BE49-F238E27FC236}">
                <a16:creationId xmlns:a16="http://schemas.microsoft.com/office/drawing/2014/main" id="{F7B199F2-B6F8-FECC-C17E-19F5EBD3F7C6}"/>
              </a:ext>
            </a:extLst>
          </p:cNvPr>
          <p:cNvPicPr>
            <a:picLocks noChangeAspect="1"/>
          </p:cNvPicPr>
          <p:nvPr/>
        </p:nvPicPr>
        <p:blipFill>
          <a:blip r:embed="rId3"/>
          <a:stretch>
            <a:fillRect/>
          </a:stretch>
        </p:blipFill>
        <p:spPr>
          <a:xfrm>
            <a:off x="2452526" y="0"/>
            <a:ext cx="1930400" cy="2844800"/>
          </a:xfrm>
          <a:prstGeom prst="rect">
            <a:avLst/>
          </a:prstGeom>
        </p:spPr>
      </p:pic>
      <p:sp>
        <p:nvSpPr>
          <p:cNvPr id="35" name="TextBox 34">
            <a:extLst>
              <a:ext uri="{FF2B5EF4-FFF2-40B4-BE49-F238E27FC236}">
                <a16:creationId xmlns:a16="http://schemas.microsoft.com/office/drawing/2014/main" id="{32E51B18-D61D-FCC0-F649-CA0DB2601C1E}"/>
              </a:ext>
            </a:extLst>
          </p:cNvPr>
          <p:cNvSpPr txBox="1"/>
          <p:nvPr/>
        </p:nvSpPr>
        <p:spPr>
          <a:xfrm>
            <a:off x="-79328" y="-72615"/>
            <a:ext cx="293670" cy="246221"/>
          </a:xfrm>
          <a:prstGeom prst="rect">
            <a:avLst/>
          </a:prstGeom>
          <a:noFill/>
        </p:spPr>
        <p:txBody>
          <a:bodyPr wrap="none" rtlCol="0">
            <a:spAutoFit/>
          </a:bodyPr>
          <a:lstStyle/>
          <a:p>
            <a:r>
              <a:rPr lang="en-US" sz="1000" b="1" dirty="0"/>
              <a:t>a.</a:t>
            </a:r>
          </a:p>
        </p:txBody>
      </p:sp>
      <p:sp>
        <p:nvSpPr>
          <p:cNvPr id="36" name="TextBox 35">
            <a:extLst>
              <a:ext uri="{FF2B5EF4-FFF2-40B4-BE49-F238E27FC236}">
                <a16:creationId xmlns:a16="http://schemas.microsoft.com/office/drawing/2014/main" id="{A7374A3C-F2AB-50F3-BFDE-822D75E17BDA}"/>
              </a:ext>
            </a:extLst>
          </p:cNvPr>
          <p:cNvSpPr txBox="1"/>
          <p:nvPr/>
        </p:nvSpPr>
        <p:spPr>
          <a:xfrm>
            <a:off x="-87914" y="460018"/>
            <a:ext cx="298480" cy="246221"/>
          </a:xfrm>
          <a:prstGeom prst="rect">
            <a:avLst/>
          </a:prstGeom>
          <a:noFill/>
        </p:spPr>
        <p:txBody>
          <a:bodyPr wrap="none" rtlCol="0">
            <a:spAutoFit/>
          </a:bodyPr>
          <a:lstStyle/>
          <a:p>
            <a:r>
              <a:rPr lang="en-US" sz="1000" b="1" dirty="0"/>
              <a:t>b.</a:t>
            </a:r>
          </a:p>
        </p:txBody>
      </p:sp>
      <p:sp>
        <p:nvSpPr>
          <p:cNvPr id="37" name="TextBox 36">
            <a:extLst>
              <a:ext uri="{FF2B5EF4-FFF2-40B4-BE49-F238E27FC236}">
                <a16:creationId xmlns:a16="http://schemas.microsoft.com/office/drawing/2014/main" id="{E1E34D25-071C-1483-465D-621E88FAE948}"/>
              </a:ext>
            </a:extLst>
          </p:cNvPr>
          <p:cNvSpPr txBox="1"/>
          <p:nvPr/>
        </p:nvSpPr>
        <p:spPr>
          <a:xfrm>
            <a:off x="-87914" y="1667465"/>
            <a:ext cx="293670" cy="246221"/>
          </a:xfrm>
          <a:prstGeom prst="rect">
            <a:avLst/>
          </a:prstGeom>
          <a:noFill/>
        </p:spPr>
        <p:txBody>
          <a:bodyPr wrap="none" rtlCol="0">
            <a:spAutoFit/>
          </a:bodyPr>
          <a:lstStyle/>
          <a:p>
            <a:r>
              <a:rPr lang="en-US" sz="1000" b="1" dirty="0"/>
              <a:t>c.</a:t>
            </a:r>
          </a:p>
        </p:txBody>
      </p:sp>
      <p:sp>
        <p:nvSpPr>
          <p:cNvPr id="38" name="TextBox 37">
            <a:extLst>
              <a:ext uri="{FF2B5EF4-FFF2-40B4-BE49-F238E27FC236}">
                <a16:creationId xmlns:a16="http://schemas.microsoft.com/office/drawing/2014/main" id="{38CF9E20-5FC3-4852-F792-7DBBB6F723E4}"/>
              </a:ext>
            </a:extLst>
          </p:cNvPr>
          <p:cNvSpPr txBox="1"/>
          <p:nvPr/>
        </p:nvSpPr>
        <p:spPr>
          <a:xfrm>
            <a:off x="2452526" y="-67112"/>
            <a:ext cx="298480" cy="246221"/>
          </a:xfrm>
          <a:prstGeom prst="rect">
            <a:avLst/>
          </a:prstGeom>
          <a:noFill/>
        </p:spPr>
        <p:txBody>
          <a:bodyPr wrap="none" rtlCol="0">
            <a:spAutoFit/>
          </a:bodyPr>
          <a:lstStyle/>
          <a:p>
            <a:r>
              <a:rPr lang="en-US" sz="1000" b="1" dirty="0"/>
              <a:t>d.</a:t>
            </a:r>
          </a:p>
        </p:txBody>
      </p:sp>
      <p:sp>
        <p:nvSpPr>
          <p:cNvPr id="39" name="TextBox 38">
            <a:extLst>
              <a:ext uri="{FF2B5EF4-FFF2-40B4-BE49-F238E27FC236}">
                <a16:creationId xmlns:a16="http://schemas.microsoft.com/office/drawing/2014/main" id="{CF2DBDBD-0D6A-306E-7944-D8783661C844}"/>
              </a:ext>
            </a:extLst>
          </p:cNvPr>
          <p:cNvSpPr txBox="1"/>
          <p:nvPr/>
        </p:nvSpPr>
        <p:spPr>
          <a:xfrm>
            <a:off x="2452526" y="1391480"/>
            <a:ext cx="293670" cy="246221"/>
          </a:xfrm>
          <a:prstGeom prst="rect">
            <a:avLst/>
          </a:prstGeom>
          <a:noFill/>
        </p:spPr>
        <p:txBody>
          <a:bodyPr wrap="none" rtlCol="0">
            <a:spAutoFit/>
          </a:bodyPr>
          <a:lstStyle/>
          <a:p>
            <a:r>
              <a:rPr lang="en-US" sz="1000" b="1" dirty="0"/>
              <a:t>e.</a:t>
            </a:r>
          </a:p>
        </p:txBody>
      </p:sp>
    </p:spTree>
    <p:extLst>
      <p:ext uri="{BB962C8B-B14F-4D97-AF65-F5344CB8AC3E}">
        <p14:creationId xmlns:p14="http://schemas.microsoft.com/office/powerpoint/2010/main" val="33915183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11871</TotalTime>
  <Words>193</Words>
  <Application>Microsoft Macintosh PowerPoint</Application>
  <PresentationFormat>Custom</PresentationFormat>
  <Paragraphs>30</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J. Lawler</dc:creator>
  <cp:lastModifiedBy>Michael J. Lawler</cp:lastModifiedBy>
  <cp:revision>3</cp:revision>
  <cp:lastPrinted>2026-04-28T15:51:27Z</cp:lastPrinted>
  <dcterms:created xsi:type="dcterms:W3CDTF">2026-04-22T13:20:23Z</dcterms:created>
  <dcterms:modified xsi:type="dcterms:W3CDTF">2026-05-01T12:46:07Z</dcterms:modified>
</cp:coreProperties>
</file>